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Space Mono"/>
      <p:regular r:id="rId17"/>
      <p:bold r:id="rId18"/>
      <p:italic r:id="rId19"/>
      <p:boldItalic r:id="rId20"/>
    </p:embeddedFont>
    <p:embeddedFont>
      <p:font typeface="Roboto"/>
      <p:regular r:id="rId21"/>
      <p:bold r:id="rId22"/>
      <p:italic r:id="rId23"/>
      <p:boldItalic r:id="rId24"/>
    </p:embeddedFont>
    <p:embeddedFont>
      <p:font typeface="Roboto Light"/>
      <p:regular r:id="rId25"/>
      <p:bold r:id="rId26"/>
      <p:italic r:id="rId27"/>
      <p:boldItalic r:id="rId28"/>
    </p:embeddedFont>
    <p:embeddedFont>
      <p:font typeface="Merriweather"/>
      <p:regular r:id="rId29"/>
      <p:bold r:id="rId30"/>
      <p:italic r:id="rId31"/>
      <p:boldItalic r:id="rId32"/>
    </p:embeddedFont>
    <p:embeddedFont>
      <p:font typeface="Poppins ExtraLigh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SpaceMono-boldItalic.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Light-bold.fntdata"/><Relationship Id="rId25" Type="http://schemas.openxmlformats.org/officeDocument/2006/relationships/font" Target="fonts/RobotoLight-regular.fntdata"/><Relationship Id="rId28" Type="http://schemas.openxmlformats.org/officeDocument/2006/relationships/font" Target="fonts/RobotoLight-boldItalic.fntdata"/><Relationship Id="rId27" Type="http://schemas.openxmlformats.org/officeDocument/2006/relationships/font" Target="fonts/RobotoLigh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erriweather-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erriweather-italic.fntdata"/><Relationship Id="rId30" Type="http://schemas.openxmlformats.org/officeDocument/2006/relationships/font" Target="fonts/Merriweather-bold.fntdata"/><Relationship Id="rId11" Type="http://schemas.openxmlformats.org/officeDocument/2006/relationships/slide" Target="slides/slide6.xml"/><Relationship Id="rId33" Type="http://schemas.openxmlformats.org/officeDocument/2006/relationships/font" Target="fonts/PoppinsExtraLight-regular.fntdata"/><Relationship Id="rId10" Type="http://schemas.openxmlformats.org/officeDocument/2006/relationships/slide" Target="slides/slide5.xml"/><Relationship Id="rId32" Type="http://schemas.openxmlformats.org/officeDocument/2006/relationships/font" Target="fonts/Merriweather-boldItalic.fntdata"/><Relationship Id="rId13" Type="http://schemas.openxmlformats.org/officeDocument/2006/relationships/slide" Target="slides/slide8.xml"/><Relationship Id="rId35" Type="http://schemas.openxmlformats.org/officeDocument/2006/relationships/font" Target="fonts/PoppinsExtraLight-italic.fntdata"/><Relationship Id="rId12" Type="http://schemas.openxmlformats.org/officeDocument/2006/relationships/slide" Target="slides/slide7.xml"/><Relationship Id="rId34" Type="http://schemas.openxmlformats.org/officeDocument/2006/relationships/font" Target="fonts/PoppinsExtraLight-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oppinsExtraLight-boldItalic.fntdata"/><Relationship Id="rId17" Type="http://schemas.openxmlformats.org/officeDocument/2006/relationships/font" Target="fonts/SpaceMono-regular.fntdata"/><Relationship Id="rId16" Type="http://schemas.openxmlformats.org/officeDocument/2006/relationships/slide" Target="slides/slide11.xml"/><Relationship Id="rId19" Type="http://schemas.openxmlformats.org/officeDocument/2006/relationships/font" Target="fonts/SpaceMono-italic.fntdata"/><Relationship Id="rId18" Type="http://schemas.openxmlformats.org/officeDocument/2006/relationships/font" Target="fonts/SpaceMon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d22a9e62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d22a9e62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9150ff59f8_2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9150ff59f8_2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d22a9e628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d22a9e62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d22a9e62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d22a9e62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d22a9e62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d22a9e62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d22a9e62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d22a9e62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d459c56fb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d459c56fb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d22a9e62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d22a9e62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d22a9e62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d22a9e62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d22a9e62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d22a9e62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mediaspace.msu.edu/media/ECE%20434%20Final%20Project%20Video%20Demo/1_0xrodg5x"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Autonomous Driving</a:t>
            </a:r>
            <a:endParaRPr/>
          </a:p>
        </p:txBody>
      </p:sp>
      <p:sp>
        <p:nvSpPr>
          <p:cNvPr id="65" name="Google Shape;65;p13"/>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Cameron Schwindaman, Tasmia Rahman, Joey Hyun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Introduction &amp; Problem Statement</a:t>
            </a:r>
            <a:endParaRPr/>
          </a:p>
        </p:txBody>
      </p:sp>
      <p:sp>
        <p:nvSpPr>
          <p:cNvPr id="71" name="Google Shape;71;p1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this project, we developed an autonomous navigation system capable of following the center of a line using real time camera footage while detecting real-time regulatory signs.</a:t>
            </a:r>
            <a:endParaRPr/>
          </a:p>
          <a:p>
            <a:pPr indent="0" lvl="0" marL="0" rtl="0" algn="l">
              <a:spcBef>
                <a:spcPts val="1200"/>
              </a:spcBef>
              <a:spcAft>
                <a:spcPts val="1200"/>
              </a:spcAft>
              <a:buNone/>
            </a:pPr>
            <a:r>
              <a:rPr lang="en"/>
              <a:t>The main objective is to ensure safe and reliable navigation by maintaining lane alignment, stopping or </a:t>
            </a:r>
            <a:r>
              <a:rPr lang="en"/>
              <a:t>adjusting</a:t>
            </a:r>
            <a:r>
              <a:rPr lang="en"/>
              <a:t> behavior for traffic signs and executing avoidance strategies when obstacles obstruct the lane.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Task Progress</a:t>
            </a:r>
            <a:endParaRPr/>
          </a:p>
        </p:txBody>
      </p:sp>
      <p:grpSp>
        <p:nvGrpSpPr>
          <p:cNvPr id="77" name="Google Shape;77;p15"/>
          <p:cNvGrpSpPr/>
          <p:nvPr/>
        </p:nvGrpSpPr>
        <p:grpSpPr>
          <a:xfrm>
            <a:off x="311746" y="1514325"/>
            <a:ext cx="8602778" cy="2754627"/>
            <a:chOff x="962026" y="1361875"/>
            <a:chExt cx="7220124" cy="2311899"/>
          </a:xfrm>
        </p:grpSpPr>
        <p:sp>
          <p:nvSpPr>
            <p:cNvPr id="78" name="Google Shape;78;p15"/>
            <p:cNvSpPr txBox="1"/>
            <p:nvPr/>
          </p:nvSpPr>
          <p:spPr>
            <a:xfrm>
              <a:off x="967750"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91">
                  <a:solidFill>
                    <a:srgbClr val="301900"/>
                  </a:solidFill>
                  <a:latin typeface="Roboto Light"/>
                  <a:ea typeface="Roboto Light"/>
                  <a:cs typeface="Roboto Light"/>
                  <a:sym typeface="Roboto Light"/>
                </a:rPr>
                <a:t>Discussion and </a:t>
              </a:r>
              <a:r>
                <a:rPr lang="en" sz="1191">
                  <a:solidFill>
                    <a:srgbClr val="301900"/>
                  </a:solidFill>
                  <a:latin typeface="Roboto Light"/>
                  <a:ea typeface="Roboto Light"/>
                  <a:cs typeface="Roboto Light"/>
                  <a:sym typeface="Roboto Light"/>
                </a:rPr>
                <a:t>defining</a:t>
              </a:r>
              <a:r>
                <a:rPr lang="en" sz="1191">
                  <a:solidFill>
                    <a:srgbClr val="301900"/>
                  </a:solidFill>
                  <a:latin typeface="Roboto Light"/>
                  <a:ea typeface="Roboto Light"/>
                  <a:cs typeface="Roboto Light"/>
                  <a:sym typeface="Roboto Light"/>
                </a:rPr>
                <a:t> the ROS package architecture, especially deciding the number of nodes and their tasks.</a:t>
              </a:r>
              <a:endParaRPr sz="1191">
                <a:solidFill>
                  <a:srgbClr val="301900"/>
                </a:solidFill>
                <a:latin typeface="Roboto Light"/>
                <a:ea typeface="Roboto Light"/>
                <a:cs typeface="Roboto Light"/>
                <a:sym typeface="Roboto Light"/>
              </a:endParaRPr>
            </a:p>
          </p:txBody>
        </p:sp>
        <p:sp>
          <p:nvSpPr>
            <p:cNvPr id="79" name="Google Shape;79;p15"/>
            <p:cNvSpPr txBox="1"/>
            <p:nvPr/>
          </p:nvSpPr>
          <p:spPr>
            <a:xfrm>
              <a:off x="967750" y="1672738"/>
              <a:ext cx="1610400" cy="769500"/>
            </a:xfrm>
            <a:prstGeom prst="rect">
              <a:avLst/>
            </a:prstGeom>
            <a:noFill/>
            <a:ln>
              <a:noFill/>
            </a:ln>
          </p:spPr>
          <p:txBody>
            <a:bodyPr anchorCtr="0" anchor="ctr" bIns="32675" lIns="0" spcFirstLastPara="1" rIns="0" wrap="square" tIns="108950">
              <a:noAutofit/>
            </a:bodyPr>
            <a:lstStyle/>
            <a:p>
              <a:pPr indent="0" lvl="0" marL="0" rtl="0" algn="l">
                <a:lnSpc>
                  <a:spcPct val="80000"/>
                </a:lnSpc>
                <a:spcBef>
                  <a:spcPts val="0"/>
                </a:spcBef>
                <a:spcAft>
                  <a:spcPts val="0"/>
                </a:spcAft>
                <a:buNone/>
              </a:pPr>
              <a:r>
                <a:rPr lang="en" sz="5957">
                  <a:solidFill>
                    <a:srgbClr val="301900"/>
                  </a:solidFill>
                  <a:latin typeface="Poppins ExtraLight"/>
                  <a:ea typeface="Poppins ExtraLight"/>
                  <a:cs typeface="Poppins ExtraLight"/>
                  <a:sym typeface="Poppins ExtraLight"/>
                </a:rPr>
                <a:t>01</a:t>
              </a:r>
              <a:endParaRPr sz="5957">
                <a:solidFill>
                  <a:srgbClr val="301900"/>
                </a:solidFill>
                <a:latin typeface="Poppins ExtraLight"/>
                <a:ea typeface="Poppins ExtraLight"/>
                <a:cs typeface="Poppins ExtraLight"/>
                <a:sym typeface="Poppins ExtraLight"/>
              </a:endParaRPr>
            </a:p>
          </p:txBody>
        </p:sp>
        <p:sp>
          <p:nvSpPr>
            <p:cNvPr id="80" name="Google Shape;80;p15"/>
            <p:cNvSpPr txBox="1"/>
            <p:nvPr/>
          </p:nvSpPr>
          <p:spPr>
            <a:xfrm>
              <a:off x="967752" y="1361875"/>
              <a:ext cx="1610400" cy="300000"/>
            </a:xfrm>
            <a:prstGeom prst="rect">
              <a:avLst/>
            </a:prstGeom>
            <a:noFill/>
            <a:ln>
              <a:noFill/>
            </a:ln>
          </p:spPr>
          <p:txBody>
            <a:bodyPr anchorCtr="0" anchor="ctr" bIns="0" lIns="0" spcFirstLastPara="1" rIns="108950" wrap="square" tIns="0">
              <a:noAutofit/>
            </a:bodyPr>
            <a:lstStyle/>
            <a:p>
              <a:pPr indent="0" lvl="0" marL="0" rtl="0" algn="l">
                <a:lnSpc>
                  <a:spcPct val="100000"/>
                </a:lnSpc>
                <a:spcBef>
                  <a:spcPts val="0"/>
                </a:spcBef>
                <a:spcAft>
                  <a:spcPts val="0"/>
                </a:spcAft>
                <a:buNone/>
              </a:pPr>
              <a:r>
                <a:rPr b="1" lang="en" sz="893">
                  <a:solidFill>
                    <a:srgbClr val="301900"/>
                  </a:solidFill>
                  <a:latin typeface="Space Mono"/>
                  <a:ea typeface="Space Mono"/>
                  <a:cs typeface="Space Mono"/>
                  <a:sym typeface="Space Mono"/>
                </a:rPr>
                <a:t>BRAINSTORM</a:t>
              </a:r>
              <a:endParaRPr b="1" sz="893">
                <a:solidFill>
                  <a:srgbClr val="301900"/>
                </a:solidFill>
                <a:latin typeface="Space Mono"/>
                <a:ea typeface="Space Mono"/>
                <a:cs typeface="Space Mono"/>
                <a:sym typeface="Space Mono"/>
              </a:endParaRPr>
            </a:p>
          </p:txBody>
        </p:sp>
        <p:sp>
          <p:nvSpPr>
            <p:cNvPr id="81" name="Google Shape;81;p15"/>
            <p:cNvSpPr txBox="1"/>
            <p:nvPr/>
          </p:nvSpPr>
          <p:spPr>
            <a:xfrm>
              <a:off x="2835765" y="2442250"/>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91">
                  <a:solidFill>
                    <a:srgbClr val="301900"/>
                  </a:solidFill>
                  <a:latin typeface="Roboto Light"/>
                  <a:ea typeface="Roboto Light"/>
                  <a:cs typeface="Roboto Light"/>
                  <a:sym typeface="Roboto Light"/>
                </a:rPr>
                <a:t>Get the backbone for all of the nodes ready. Also make sure all of the nodes are working correctly individually by adding test cases for each of the nodes.</a:t>
              </a:r>
              <a:endParaRPr sz="1191">
                <a:solidFill>
                  <a:srgbClr val="301900"/>
                </a:solidFill>
                <a:latin typeface="Roboto Light"/>
                <a:ea typeface="Roboto Light"/>
                <a:cs typeface="Roboto Light"/>
                <a:sym typeface="Roboto Light"/>
              </a:endParaRPr>
            </a:p>
          </p:txBody>
        </p:sp>
        <p:sp>
          <p:nvSpPr>
            <p:cNvPr id="82" name="Google Shape;82;p15"/>
            <p:cNvSpPr txBox="1"/>
            <p:nvPr/>
          </p:nvSpPr>
          <p:spPr>
            <a:xfrm>
              <a:off x="2835742" y="1361875"/>
              <a:ext cx="1610400" cy="300000"/>
            </a:xfrm>
            <a:prstGeom prst="rect">
              <a:avLst/>
            </a:prstGeom>
            <a:noFill/>
            <a:ln>
              <a:noFill/>
            </a:ln>
          </p:spPr>
          <p:txBody>
            <a:bodyPr anchorCtr="0" anchor="ctr" bIns="0" lIns="0" spcFirstLastPara="1" rIns="108950" wrap="square" tIns="0">
              <a:noAutofit/>
            </a:bodyPr>
            <a:lstStyle/>
            <a:p>
              <a:pPr indent="0" lvl="0" marL="0" rtl="0" algn="l">
                <a:lnSpc>
                  <a:spcPct val="100000"/>
                </a:lnSpc>
                <a:spcBef>
                  <a:spcPts val="0"/>
                </a:spcBef>
                <a:spcAft>
                  <a:spcPts val="0"/>
                </a:spcAft>
                <a:buNone/>
              </a:pPr>
              <a:r>
                <a:rPr b="1" lang="en" sz="893">
                  <a:solidFill>
                    <a:srgbClr val="301900"/>
                  </a:solidFill>
                  <a:latin typeface="Space Mono"/>
                  <a:ea typeface="Space Mono"/>
                  <a:cs typeface="Space Mono"/>
                  <a:sym typeface="Space Mono"/>
                </a:rPr>
                <a:t>DESIGN AND TEST</a:t>
              </a:r>
              <a:endParaRPr b="1" sz="893">
                <a:solidFill>
                  <a:srgbClr val="301900"/>
                </a:solidFill>
                <a:latin typeface="Space Mono"/>
                <a:ea typeface="Space Mono"/>
                <a:cs typeface="Space Mono"/>
                <a:sym typeface="Space Mono"/>
              </a:endParaRPr>
            </a:p>
          </p:txBody>
        </p:sp>
        <p:sp>
          <p:nvSpPr>
            <p:cNvPr id="83" name="Google Shape;83;p15"/>
            <p:cNvSpPr txBox="1"/>
            <p:nvPr/>
          </p:nvSpPr>
          <p:spPr>
            <a:xfrm>
              <a:off x="4703733"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91">
                  <a:solidFill>
                    <a:srgbClr val="301900"/>
                  </a:solidFill>
                  <a:latin typeface="Roboto Light"/>
                  <a:ea typeface="Roboto Light"/>
                  <a:cs typeface="Roboto Light"/>
                  <a:sym typeface="Roboto Light"/>
                </a:rPr>
                <a:t>Get working on the decision making node and make sure it uses results from the other nodes to make an informed decision</a:t>
              </a:r>
              <a:endParaRPr sz="1191">
                <a:solidFill>
                  <a:srgbClr val="301900"/>
                </a:solidFill>
                <a:latin typeface="Roboto Light"/>
                <a:ea typeface="Roboto Light"/>
                <a:cs typeface="Roboto Light"/>
                <a:sym typeface="Roboto Light"/>
              </a:endParaRPr>
            </a:p>
          </p:txBody>
        </p:sp>
        <p:sp>
          <p:nvSpPr>
            <p:cNvPr id="84" name="Google Shape;84;p15"/>
            <p:cNvSpPr txBox="1"/>
            <p:nvPr/>
          </p:nvSpPr>
          <p:spPr>
            <a:xfrm>
              <a:off x="4703732" y="1361875"/>
              <a:ext cx="1610400" cy="300000"/>
            </a:xfrm>
            <a:prstGeom prst="rect">
              <a:avLst/>
            </a:prstGeom>
            <a:noFill/>
            <a:ln>
              <a:noFill/>
            </a:ln>
          </p:spPr>
          <p:txBody>
            <a:bodyPr anchorCtr="0" anchor="ctr" bIns="0" lIns="0" spcFirstLastPara="1" rIns="108950" wrap="square" tIns="0">
              <a:noAutofit/>
            </a:bodyPr>
            <a:lstStyle/>
            <a:p>
              <a:pPr indent="0" lvl="0" marL="0" rtl="0" algn="l">
                <a:lnSpc>
                  <a:spcPct val="100000"/>
                </a:lnSpc>
                <a:spcBef>
                  <a:spcPts val="0"/>
                </a:spcBef>
                <a:spcAft>
                  <a:spcPts val="0"/>
                </a:spcAft>
                <a:buNone/>
              </a:pPr>
              <a:r>
                <a:rPr b="1" lang="en" sz="893">
                  <a:solidFill>
                    <a:srgbClr val="301900"/>
                  </a:solidFill>
                  <a:latin typeface="Space Mono"/>
                  <a:ea typeface="Space Mono"/>
                  <a:cs typeface="Space Mono"/>
                  <a:sym typeface="Space Mono"/>
                </a:rPr>
                <a:t>PUT IT TOGETHER</a:t>
              </a:r>
              <a:endParaRPr b="1" sz="893">
                <a:solidFill>
                  <a:srgbClr val="301900"/>
                </a:solidFill>
                <a:latin typeface="Space Mono"/>
                <a:ea typeface="Space Mono"/>
                <a:cs typeface="Space Mono"/>
                <a:sym typeface="Space Mono"/>
              </a:endParaRPr>
            </a:p>
          </p:txBody>
        </p:sp>
        <p:sp>
          <p:nvSpPr>
            <p:cNvPr id="85" name="Google Shape;85;p15"/>
            <p:cNvSpPr txBox="1"/>
            <p:nvPr/>
          </p:nvSpPr>
          <p:spPr>
            <a:xfrm>
              <a:off x="6571725" y="2442274"/>
              <a:ext cx="1610400" cy="123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191">
                  <a:solidFill>
                    <a:srgbClr val="301900"/>
                  </a:solidFill>
                  <a:latin typeface="Roboto Light"/>
                  <a:ea typeface="Roboto Light"/>
                  <a:cs typeface="Roboto Light"/>
                  <a:sym typeface="Roboto Light"/>
                </a:rPr>
                <a:t>Now try </a:t>
              </a:r>
              <a:r>
                <a:rPr lang="en" sz="1191">
                  <a:solidFill>
                    <a:srgbClr val="301900"/>
                  </a:solidFill>
                  <a:latin typeface="Roboto Light"/>
                  <a:ea typeface="Roboto Light"/>
                  <a:cs typeface="Roboto Light"/>
                  <a:sym typeface="Roboto Light"/>
                </a:rPr>
                <a:t>refining your traffic sign detection by further training if required. Also try to tweak with the values for the PID controller</a:t>
              </a:r>
              <a:endParaRPr sz="1191">
                <a:solidFill>
                  <a:srgbClr val="301900"/>
                </a:solidFill>
                <a:latin typeface="Roboto Light"/>
                <a:ea typeface="Roboto Light"/>
                <a:cs typeface="Roboto Light"/>
                <a:sym typeface="Roboto Light"/>
              </a:endParaRPr>
            </a:p>
          </p:txBody>
        </p:sp>
        <p:sp>
          <p:nvSpPr>
            <p:cNvPr id="86" name="Google Shape;86;p15"/>
            <p:cNvSpPr txBox="1"/>
            <p:nvPr/>
          </p:nvSpPr>
          <p:spPr>
            <a:xfrm>
              <a:off x="6571723" y="1361875"/>
              <a:ext cx="1610400" cy="300000"/>
            </a:xfrm>
            <a:prstGeom prst="rect">
              <a:avLst/>
            </a:prstGeom>
            <a:noFill/>
            <a:ln>
              <a:noFill/>
            </a:ln>
          </p:spPr>
          <p:txBody>
            <a:bodyPr anchorCtr="0" anchor="ctr" bIns="0" lIns="0" spcFirstLastPara="1" rIns="108950" wrap="square" tIns="0">
              <a:noAutofit/>
            </a:bodyPr>
            <a:lstStyle/>
            <a:p>
              <a:pPr indent="0" lvl="0" marL="0" rtl="0" algn="l">
                <a:lnSpc>
                  <a:spcPct val="100000"/>
                </a:lnSpc>
                <a:spcBef>
                  <a:spcPts val="0"/>
                </a:spcBef>
                <a:spcAft>
                  <a:spcPts val="0"/>
                </a:spcAft>
                <a:buNone/>
              </a:pPr>
              <a:r>
                <a:rPr b="1" lang="en" sz="893">
                  <a:solidFill>
                    <a:srgbClr val="301900"/>
                  </a:solidFill>
                  <a:latin typeface="Space Mono"/>
                  <a:ea typeface="Space Mono"/>
                  <a:cs typeface="Space Mono"/>
                  <a:sym typeface="Space Mono"/>
                </a:rPr>
                <a:t>TWEAK</a:t>
              </a:r>
              <a:endParaRPr b="1" sz="893">
                <a:solidFill>
                  <a:srgbClr val="301900"/>
                </a:solidFill>
                <a:latin typeface="Space Mono"/>
                <a:ea typeface="Space Mono"/>
                <a:cs typeface="Space Mono"/>
                <a:sym typeface="Space Mono"/>
              </a:endParaRPr>
            </a:p>
          </p:txBody>
        </p:sp>
        <p:sp>
          <p:nvSpPr>
            <p:cNvPr id="87" name="Google Shape;87;p15"/>
            <p:cNvSpPr txBox="1"/>
            <p:nvPr/>
          </p:nvSpPr>
          <p:spPr>
            <a:xfrm>
              <a:off x="2835737" y="1672738"/>
              <a:ext cx="1610400" cy="769500"/>
            </a:xfrm>
            <a:prstGeom prst="rect">
              <a:avLst/>
            </a:prstGeom>
            <a:noFill/>
            <a:ln>
              <a:noFill/>
            </a:ln>
          </p:spPr>
          <p:txBody>
            <a:bodyPr anchorCtr="0" anchor="ctr" bIns="32675" lIns="0" spcFirstLastPara="1" rIns="0" wrap="square" tIns="108950">
              <a:noAutofit/>
            </a:bodyPr>
            <a:lstStyle/>
            <a:p>
              <a:pPr indent="0" lvl="0" marL="0" rtl="0" algn="l">
                <a:lnSpc>
                  <a:spcPct val="80000"/>
                </a:lnSpc>
                <a:spcBef>
                  <a:spcPts val="0"/>
                </a:spcBef>
                <a:spcAft>
                  <a:spcPts val="0"/>
                </a:spcAft>
                <a:buNone/>
              </a:pPr>
              <a:r>
                <a:rPr lang="en" sz="5957">
                  <a:solidFill>
                    <a:srgbClr val="301900"/>
                  </a:solidFill>
                  <a:latin typeface="Poppins ExtraLight"/>
                  <a:ea typeface="Poppins ExtraLight"/>
                  <a:cs typeface="Poppins ExtraLight"/>
                  <a:sym typeface="Poppins ExtraLight"/>
                </a:rPr>
                <a:t>02</a:t>
              </a:r>
              <a:endParaRPr sz="5957">
                <a:solidFill>
                  <a:srgbClr val="301900"/>
                </a:solidFill>
                <a:latin typeface="Poppins ExtraLight"/>
                <a:ea typeface="Poppins ExtraLight"/>
                <a:cs typeface="Poppins ExtraLight"/>
                <a:sym typeface="Poppins ExtraLight"/>
              </a:endParaRPr>
            </a:p>
          </p:txBody>
        </p:sp>
        <p:sp>
          <p:nvSpPr>
            <p:cNvPr id="88" name="Google Shape;88;p15"/>
            <p:cNvSpPr txBox="1"/>
            <p:nvPr/>
          </p:nvSpPr>
          <p:spPr>
            <a:xfrm>
              <a:off x="4703750" y="1672738"/>
              <a:ext cx="1610400" cy="769500"/>
            </a:xfrm>
            <a:prstGeom prst="rect">
              <a:avLst/>
            </a:prstGeom>
            <a:noFill/>
            <a:ln>
              <a:noFill/>
            </a:ln>
          </p:spPr>
          <p:txBody>
            <a:bodyPr anchorCtr="0" anchor="ctr" bIns="32675" lIns="0" spcFirstLastPara="1" rIns="0" wrap="square" tIns="108950">
              <a:noAutofit/>
            </a:bodyPr>
            <a:lstStyle/>
            <a:p>
              <a:pPr indent="0" lvl="0" marL="0" rtl="0" algn="l">
                <a:lnSpc>
                  <a:spcPct val="80000"/>
                </a:lnSpc>
                <a:spcBef>
                  <a:spcPts val="0"/>
                </a:spcBef>
                <a:spcAft>
                  <a:spcPts val="0"/>
                </a:spcAft>
                <a:buNone/>
              </a:pPr>
              <a:r>
                <a:rPr lang="en" sz="5957">
                  <a:solidFill>
                    <a:srgbClr val="301900"/>
                  </a:solidFill>
                  <a:latin typeface="Poppins ExtraLight"/>
                  <a:ea typeface="Poppins ExtraLight"/>
                  <a:cs typeface="Poppins ExtraLight"/>
                  <a:sym typeface="Poppins ExtraLight"/>
                </a:rPr>
                <a:t>03</a:t>
              </a:r>
              <a:endParaRPr sz="5957">
                <a:solidFill>
                  <a:srgbClr val="301900"/>
                </a:solidFill>
                <a:latin typeface="Poppins ExtraLight"/>
                <a:ea typeface="Poppins ExtraLight"/>
                <a:cs typeface="Poppins ExtraLight"/>
                <a:sym typeface="Poppins ExtraLight"/>
              </a:endParaRPr>
            </a:p>
          </p:txBody>
        </p:sp>
        <p:sp>
          <p:nvSpPr>
            <p:cNvPr id="89" name="Google Shape;89;p15"/>
            <p:cNvSpPr txBox="1"/>
            <p:nvPr/>
          </p:nvSpPr>
          <p:spPr>
            <a:xfrm>
              <a:off x="6571750" y="1672738"/>
              <a:ext cx="1610400" cy="769500"/>
            </a:xfrm>
            <a:prstGeom prst="rect">
              <a:avLst/>
            </a:prstGeom>
            <a:noFill/>
            <a:ln>
              <a:noFill/>
            </a:ln>
          </p:spPr>
          <p:txBody>
            <a:bodyPr anchorCtr="0" anchor="ctr" bIns="32675" lIns="0" spcFirstLastPara="1" rIns="0" wrap="square" tIns="108950">
              <a:noAutofit/>
            </a:bodyPr>
            <a:lstStyle/>
            <a:p>
              <a:pPr indent="0" lvl="0" marL="0" rtl="0" algn="l">
                <a:lnSpc>
                  <a:spcPct val="80000"/>
                </a:lnSpc>
                <a:spcBef>
                  <a:spcPts val="0"/>
                </a:spcBef>
                <a:spcAft>
                  <a:spcPts val="0"/>
                </a:spcAft>
                <a:buNone/>
              </a:pPr>
              <a:r>
                <a:rPr lang="en" sz="5957">
                  <a:solidFill>
                    <a:srgbClr val="301900"/>
                  </a:solidFill>
                  <a:latin typeface="Poppins ExtraLight"/>
                  <a:ea typeface="Poppins ExtraLight"/>
                  <a:cs typeface="Poppins ExtraLight"/>
                  <a:sym typeface="Poppins ExtraLight"/>
                </a:rPr>
                <a:t>04</a:t>
              </a:r>
              <a:endParaRPr sz="5957">
                <a:solidFill>
                  <a:srgbClr val="301900"/>
                </a:solidFill>
                <a:latin typeface="Poppins ExtraLight"/>
                <a:ea typeface="Poppins ExtraLight"/>
                <a:cs typeface="Poppins ExtraLight"/>
                <a:sym typeface="Poppins ExtraLight"/>
              </a:endParaRPr>
            </a:p>
          </p:txBody>
        </p:sp>
        <p:cxnSp>
          <p:nvCxnSpPr>
            <p:cNvPr id="90" name="Google Shape;90;p15"/>
            <p:cNvCxnSpPr/>
            <p:nvPr/>
          </p:nvCxnSpPr>
          <p:spPr>
            <a:xfrm>
              <a:off x="962026" y="1667300"/>
              <a:ext cx="7220100" cy="0"/>
            </a:xfrm>
            <a:prstGeom prst="straightConnector1">
              <a:avLst/>
            </a:prstGeom>
            <a:noFill/>
            <a:ln cap="flat" cmpd="sng" w="11350">
              <a:solidFill>
                <a:srgbClr val="301900"/>
              </a:solidFill>
              <a:prstDash val="solid"/>
              <a:round/>
              <a:headEnd len="med" w="med" type="none"/>
              <a:tailEnd len="med" w="med" type="non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Approach &amp; Architecture</a:t>
            </a:r>
            <a:endParaRPr/>
          </a:p>
        </p:txBody>
      </p:sp>
      <p:sp>
        <p:nvSpPr>
          <p:cNvPr id="96" name="Google Shape;96;p16"/>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developed a ROS2 package named autonomous_driving which is composed of four nodes: sign_detector_node, lane_detector_node, obstacle_detector_node, and decision_making_node.</a:t>
            </a:r>
            <a:endParaRPr/>
          </a:p>
          <a:p>
            <a:pPr indent="0" lvl="0" marL="0" rtl="0" algn="l">
              <a:spcBef>
                <a:spcPts val="1200"/>
              </a:spcBef>
              <a:spcAft>
                <a:spcPts val="0"/>
              </a:spcAft>
              <a:buNone/>
            </a:pPr>
            <a:r>
              <a:rPr lang="en"/>
              <a:t>These four nodes work together to make the robot move along a lane following traffic regulatory signs and detecting obstacles along the way. </a:t>
            </a:r>
            <a:endParaRPr/>
          </a:p>
          <a:p>
            <a:pPr indent="0" lvl="0" marL="0" rtl="0" algn="l">
              <a:spcBef>
                <a:spcPts val="1200"/>
              </a:spcBef>
              <a:spcAft>
                <a:spcPts val="1200"/>
              </a:spcAft>
              <a:buNone/>
            </a:pPr>
            <a:r>
              <a:rPr lang="en"/>
              <a:t>Lane Detector published Twist, Obstacle Detection published MarkerArray and Sign Detection published sign names as strings to the Decision Maker.</a:t>
            </a:r>
            <a:endParaRPr/>
          </a:p>
        </p:txBody>
      </p:sp>
      <p:pic>
        <p:nvPicPr>
          <p:cNvPr id="97" name="Google Shape;97;p16"/>
          <p:cNvPicPr preferRelativeResize="0"/>
          <p:nvPr/>
        </p:nvPicPr>
        <p:blipFill>
          <a:blip r:embed="rId3">
            <a:alphaModFix/>
          </a:blip>
          <a:stretch>
            <a:fillRect/>
          </a:stretch>
        </p:blipFill>
        <p:spPr>
          <a:xfrm>
            <a:off x="152400" y="2037075"/>
            <a:ext cx="3963600" cy="2954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Lane Following</a:t>
            </a:r>
            <a:endParaRPr/>
          </a:p>
        </p:txBody>
      </p:sp>
      <p:sp>
        <p:nvSpPr>
          <p:cNvPr id="103" name="Google Shape;103;p17"/>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This ROS2 node uses a PID (Proportional Integral Derivative) controller to stay in the center of the desired lane.</a:t>
            </a:r>
            <a:endParaRPr/>
          </a:p>
          <a:p>
            <a:pPr indent="-311150" lvl="0" marL="457200" rtl="0" algn="l">
              <a:spcBef>
                <a:spcPts val="0"/>
              </a:spcBef>
              <a:spcAft>
                <a:spcPts val="0"/>
              </a:spcAft>
              <a:buSzPts val="1300"/>
              <a:buChar char="-"/>
            </a:pPr>
            <a:r>
              <a:rPr lang="en"/>
              <a:t>It constantly calculates the linear and angular speed of the robot using the PID algorithm and publishes it to the /cmd_vel</a:t>
            </a:r>
            <a:endParaRPr/>
          </a:p>
          <a:p>
            <a:pPr indent="-311150" lvl="0" marL="457200" rtl="0" algn="l">
              <a:spcBef>
                <a:spcPts val="0"/>
              </a:spcBef>
              <a:spcAft>
                <a:spcPts val="0"/>
              </a:spcAft>
              <a:buSzPts val="1300"/>
              <a:buChar char="-"/>
            </a:pPr>
            <a:r>
              <a:rPr lang="en"/>
              <a:t>If no lane is detected, the turtlebot stops with a linear and angular velocity of 0 being published to /cmd_vel</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a:t>Challenge</a:t>
            </a:r>
            <a:r>
              <a:rPr lang="en"/>
              <a:t>: The standard color masking failed because the walls are the same color as the white lane lines, causing the turtlebot to steer into the wall. This resulted in the implementation of a smart filter to ignore walls if there was too many white pixels. </a:t>
            </a:r>
            <a:endParaRPr/>
          </a:p>
        </p:txBody>
      </p:sp>
      <p:pic>
        <p:nvPicPr>
          <p:cNvPr id="104" name="Google Shape;104;p17" title="Screenshot 2025-11-23 181554.png"/>
          <p:cNvPicPr preferRelativeResize="0"/>
          <p:nvPr/>
        </p:nvPicPr>
        <p:blipFill>
          <a:blip r:embed="rId3">
            <a:alphaModFix/>
          </a:blip>
          <a:stretch>
            <a:fillRect/>
          </a:stretch>
        </p:blipFill>
        <p:spPr>
          <a:xfrm>
            <a:off x="152400" y="1855170"/>
            <a:ext cx="3865824" cy="313593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Sign Detection</a:t>
            </a:r>
            <a:endParaRPr/>
          </a:p>
        </p:txBody>
      </p:sp>
      <p:sp>
        <p:nvSpPr>
          <p:cNvPr id="110" name="Google Shape;110;p18"/>
          <p:cNvSpPr txBox="1"/>
          <p:nvPr>
            <p:ph idx="1" type="body"/>
          </p:nvPr>
        </p:nvSpPr>
        <p:spPr>
          <a:xfrm>
            <a:off x="4644675" y="500925"/>
            <a:ext cx="4166400" cy="40986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SzPts val="1600"/>
              <a:buChar char="-"/>
            </a:pPr>
            <a:r>
              <a:rPr lang="en" sz="1600"/>
              <a:t>Sign detection was very similar to the previous lab and used YOLOv8 model on a custom dataset of images</a:t>
            </a:r>
            <a:endParaRPr sz="1600"/>
          </a:p>
          <a:p>
            <a:pPr indent="-330200" lvl="0" marL="457200" rtl="0" algn="l">
              <a:spcBef>
                <a:spcPts val="0"/>
              </a:spcBef>
              <a:spcAft>
                <a:spcPts val="0"/>
              </a:spcAft>
              <a:buSzPts val="1600"/>
              <a:buChar char="-"/>
            </a:pPr>
            <a:r>
              <a:rPr lang="en" sz="1600"/>
              <a:t>Trained sign images from </a:t>
            </a:r>
            <a:r>
              <a:rPr lang="en" sz="1600"/>
              <a:t>autorace track</a:t>
            </a:r>
            <a:r>
              <a:rPr lang="en" sz="1600"/>
              <a:t> and the dataset includes stop, left turn, right turn, etc</a:t>
            </a:r>
            <a:endParaRPr sz="1600"/>
          </a:p>
          <a:p>
            <a:pPr indent="-330200" lvl="0" marL="457200" rtl="0" algn="l">
              <a:spcBef>
                <a:spcPts val="0"/>
              </a:spcBef>
              <a:spcAft>
                <a:spcPts val="0"/>
              </a:spcAft>
              <a:buSzPts val="1600"/>
              <a:buChar char="-"/>
            </a:pPr>
            <a:r>
              <a:rPr lang="en" sz="1600"/>
              <a:t>Some of the signs don’t do anything such as tunnel or construction but it still gets recognized. Right turn, left turn, and stop all affect the turtlebot</a:t>
            </a:r>
            <a:endParaRPr sz="1600"/>
          </a:p>
          <a:p>
            <a:pPr indent="-330200" lvl="0" marL="457200" rtl="0" algn="l">
              <a:spcBef>
                <a:spcPts val="0"/>
              </a:spcBef>
              <a:spcAft>
                <a:spcPts val="0"/>
              </a:spcAft>
              <a:buSzPts val="1600"/>
              <a:buChar char="-"/>
            </a:pPr>
            <a:r>
              <a:rPr lang="en" sz="1600"/>
              <a:t>Publishes detected sign names to /signs/detected as a string. Examples include “Stop Sign” and “Right Turn”</a:t>
            </a:r>
            <a:endParaRPr sz="1600"/>
          </a:p>
          <a:p>
            <a:pPr indent="0" lvl="0" marL="457200" rtl="0" algn="l">
              <a:spcBef>
                <a:spcPts val="1200"/>
              </a:spcBef>
              <a:spcAft>
                <a:spcPts val="1200"/>
              </a:spcAft>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Obstacle Avoidance</a:t>
            </a:r>
            <a:endParaRPr/>
          </a:p>
        </p:txBody>
      </p:sp>
      <p:sp>
        <p:nvSpPr>
          <p:cNvPr id="116" name="Google Shape;116;p19"/>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A ROS Node was developed to publish the centroids of the nearby objects to the /obstacles topic.</a:t>
            </a:r>
            <a:endParaRPr/>
          </a:p>
          <a:p>
            <a:pPr indent="-311150" lvl="0" marL="457200" rtl="0" algn="l">
              <a:spcBef>
                <a:spcPts val="0"/>
              </a:spcBef>
              <a:spcAft>
                <a:spcPts val="0"/>
              </a:spcAft>
              <a:buSzPts val="1300"/>
              <a:buChar char="-"/>
            </a:pPr>
            <a:r>
              <a:rPr lang="en"/>
              <a:t>If two objects are very close to each other, then only centroid is published for those two objects and it appears as one object</a:t>
            </a:r>
            <a:endParaRPr/>
          </a:p>
          <a:p>
            <a:pPr indent="-311150" lvl="0" marL="457200" rtl="0" algn="l">
              <a:spcBef>
                <a:spcPts val="0"/>
              </a:spcBef>
              <a:spcAft>
                <a:spcPts val="0"/>
              </a:spcAft>
              <a:buSzPts val="1300"/>
              <a:buChar char="-"/>
            </a:pPr>
            <a:r>
              <a:rPr lang="en"/>
              <a:t>The centroids are published published as a MarkerArray to /obstacles which can be viewed in RViz.</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Decision Maker</a:t>
            </a:r>
            <a:endParaRPr/>
          </a:p>
        </p:txBody>
      </p:sp>
      <p:sp>
        <p:nvSpPr>
          <p:cNvPr id="122" name="Google Shape;122;p20"/>
          <p:cNvSpPr txBox="1"/>
          <p:nvPr>
            <p:ph idx="1" type="body"/>
          </p:nvPr>
        </p:nvSpPr>
        <p:spPr>
          <a:xfrm>
            <a:off x="4644675" y="500925"/>
            <a:ext cx="4166400" cy="4098600"/>
          </a:xfrm>
          <a:prstGeom prst="rect">
            <a:avLst/>
          </a:prstGeom>
        </p:spPr>
        <p:txBody>
          <a:bodyPr anchorCtr="0" anchor="t" bIns="91425" lIns="91425" spcFirstLastPara="1" rIns="91425" wrap="square" tIns="91425">
            <a:normAutofit fontScale="77500" lnSpcReduction="20000"/>
          </a:bodyPr>
          <a:lstStyle/>
          <a:p>
            <a:pPr indent="-297497" lvl="0" marL="457200" rtl="0" algn="l">
              <a:spcBef>
                <a:spcPts val="0"/>
              </a:spcBef>
              <a:spcAft>
                <a:spcPts val="0"/>
              </a:spcAft>
              <a:buSzPct val="100000"/>
              <a:buChar char="-"/>
            </a:pPr>
            <a:r>
              <a:rPr lang="en" sz="1400"/>
              <a:t>This node used all of the previous nodes to actually move the turtlebot throughout the track</a:t>
            </a:r>
            <a:endParaRPr sz="1400"/>
          </a:p>
          <a:p>
            <a:pPr indent="-297497" lvl="0" marL="457200" rtl="0" algn="l">
              <a:spcBef>
                <a:spcPts val="0"/>
              </a:spcBef>
              <a:spcAft>
                <a:spcPts val="0"/>
              </a:spcAft>
              <a:buSzPct val="100000"/>
              <a:buChar char="-"/>
            </a:pPr>
            <a:r>
              <a:rPr lang="en" sz="1400"/>
              <a:t>Used a state machine with the states Lane_Following, Stopped_for_Sign, Avoiding_Obstacle, Turning_Right, Turning_Left, and Searching. </a:t>
            </a:r>
            <a:endParaRPr sz="1400"/>
          </a:p>
          <a:p>
            <a:pPr indent="-297497" lvl="0" marL="457200" rtl="0" algn="l">
              <a:spcBef>
                <a:spcPts val="0"/>
              </a:spcBef>
              <a:spcAft>
                <a:spcPts val="0"/>
              </a:spcAft>
              <a:buSzPct val="100000"/>
              <a:buChar char="-"/>
            </a:pPr>
            <a:r>
              <a:rPr lang="en" sz="1400"/>
              <a:t>Obstacle avoidance overrides everything and stop signs take priority over turns. Turtlebot lane follows when no obstacles/signs are in sight. </a:t>
            </a:r>
            <a:endParaRPr sz="1400"/>
          </a:p>
          <a:p>
            <a:pPr indent="-297497" lvl="0" marL="457200" rtl="0" algn="l">
              <a:spcBef>
                <a:spcPts val="0"/>
              </a:spcBef>
              <a:spcAft>
                <a:spcPts val="0"/>
              </a:spcAft>
              <a:buSzPct val="100000"/>
              <a:buChar char="-"/>
            </a:pPr>
            <a:r>
              <a:rPr lang="en" sz="1400"/>
              <a:t>When an obstacle is detected it will either turn left or right to avoid the obstacle depending on where the obstacle is in terms of the turtlebot vision. It also </a:t>
            </a:r>
            <a:r>
              <a:rPr lang="en" sz="1400"/>
              <a:t>continuous</a:t>
            </a:r>
            <a:r>
              <a:rPr lang="en" sz="1400"/>
              <a:t> avoiding for 0.5 seconds to prevent it from hitting the obstacle again. </a:t>
            </a:r>
            <a:endParaRPr sz="1400"/>
          </a:p>
          <a:p>
            <a:pPr indent="-297497" lvl="0" marL="457200" rtl="0" algn="l">
              <a:spcBef>
                <a:spcPts val="0"/>
              </a:spcBef>
              <a:spcAft>
                <a:spcPts val="0"/>
              </a:spcAft>
              <a:buSzPct val="100000"/>
              <a:buChar char="-"/>
            </a:pPr>
            <a:r>
              <a:rPr lang="en" sz="1400"/>
              <a:t>When a sign is detected such as Stop it first adds to a list called recently stopped to ensure it doesn’t get stuck in a loop of </a:t>
            </a:r>
            <a:r>
              <a:rPr lang="en" sz="1400"/>
              <a:t>always</a:t>
            </a:r>
            <a:r>
              <a:rPr lang="en" sz="1400"/>
              <a:t> stopping. For Right and Left the sign needs to </a:t>
            </a:r>
            <a:r>
              <a:rPr lang="en" sz="1400"/>
              <a:t>visible</a:t>
            </a:r>
            <a:r>
              <a:rPr lang="en" sz="1400"/>
              <a:t> for 0.5 seconds and it rotates in place without moving forward just enough for the robot to turn and use the lane following.</a:t>
            </a:r>
            <a:endParaRPr sz="1400"/>
          </a:p>
          <a:p>
            <a:pPr indent="-297497" lvl="0" marL="457200" rtl="0" algn="l">
              <a:spcBef>
                <a:spcPts val="0"/>
              </a:spcBef>
              <a:spcAft>
                <a:spcPts val="0"/>
              </a:spcAft>
              <a:buSzPct val="100000"/>
              <a:buChar char="-"/>
            </a:pPr>
            <a:r>
              <a:rPr lang="en" sz="1400"/>
              <a:t>Decision maker receives inputs from all 3 other nodes and determines its next state based on priority rules and then executes that command. It publishes /cmd_vel to the turtlebot.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Demonstration</a:t>
            </a:r>
            <a:endParaRPr/>
          </a:p>
        </p:txBody>
      </p:sp>
      <p:sp>
        <p:nvSpPr>
          <p:cNvPr id="128" name="Google Shape;128;p21"/>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https://mediaspace.msu.edu/media/ECE%20434%20Final%20Project%20Video%20Demo/1_0xrodg5x</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&amp; Challenges</a:t>
            </a:r>
            <a:endParaRPr/>
          </a:p>
        </p:txBody>
      </p:sp>
      <p:sp>
        <p:nvSpPr>
          <p:cNvPr id="134" name="Google Shape;134;p22"/>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The system was fairly successful in following lanes, following traffic signs as well as avoiding obstacles.</a:t>
            </a:r>
            <a:endParaRPr/>
          </a:p>
          <a:p>
            <a:pPr indent="-311150" lvl="0" marL="457200" rtl="0" algn="l">
              <a:spcBef>
                <a:spcPts val="0"/>
              </a:spcBef>
              <a:spcAft>
                <a:spcPts val="0"/>
              </a:spcAft>
              <a:buSzPts val="1300"/>
              <a:buChar char="-"/>
            </a:pPr>
            <a:r>
              <a:rPr lang="en"/>
              <a:t>Big challenge was getting the turning right for avoiding obstacles and left and right turns. If the robot turned too much it would go off the track and if it turned too little it would not turn or hit the obstacle. Fine tuning took a good amount of time. </a:t>
            </a:r>
            <a:endParaRPr/>
          </a:p>
          <a:p>
            <a:pPr indent="-311150" lvl="0" marL="457200" rtl="0" algn="l">
              <a:spcBef>
                <a:spcPts val="0"/>
              </a:spcBef>
              <a:spcAft>
                <a:spcPts val="0"/>
              </a:spcAft>
              <a:buSzPts val="1300"/>
              <a:buChar char="-"/>
            </a:pPr>
            <a:r>
              <a:rPr lang="en"/>
              <a:t>Another challenge was the turtlebot actually detected signs from across the track which would cause it to do random </a:t>
            </a:r>
            <a:r>
              <a:rPr lang="en"/>
              <a:t>things</a:t>
            </a:r>
            <a:r>
              <a:rPr lang="en"/>
              <a:t>. For this a </a:t>
            </a:r>
            <a:r>
              <a:rPr lang="en"/>
              <a:t>visibility</a:t>
            </a:r>
            <a:r>
              <a:rPr lang="en"/>
              <a:t> timer and distance detection was added to make sure it only got affected by signs directly in front of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 &amp; Future Work</a:t>
            </a:r>
            <a:endParaRPr/>
          </a:p>
        </p:txBody>
      </p:sp>
      <p:sp>
        <p:nvSpPr>
          <p:cNvPr id="140" name="Google Shape;140;p23"/>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Performance was reliable for the most part but fell due to abrupt lane changes and sensitivity of </a:t>
            </a:r>
            <a:r>
              <a:rPr lang="en"/>
              <a:t>lighting</a:t>
            </a:r>
            <a:endParaRPr/>
          </a:p>
          <a:p>
            <a:pPr indent="-311150" lvl="0" marL="457200" rtl="0" algn="l">
              <a:spcBef>
                <a:spcPts val="0"/>
              </a:spcBef>
              <a:spcAft>
                <a:spcPts val="0"/>
              </a:spcAft>
              <a:buSzPts val="1300"/>
              <a:buChar char="-"/>
            </a:pPr>
            <a:r>
              <a:rPr lang="en"/>
              <a:t> Future work involves improving robustness and extending bahavior for more complex traffic behavior scenarios</a:t>
            </a:r>
            <a:endParaRPr/>
          </a:p>
          <a:p>
            <a:pPr indent="-311150" lvl="0" marL="457200" rtl="0" algn="l">
              <a:spcBef>
                <a:spcPts val="0"/>
              </a:spcBef>
              <a:spcAft>
                <a:spcPts val="0"/>
              </a:spcAft>
              <a:buSzPts val="1300"/>
              <a:buChar char="-"/>
            </a:pPr>
            <a:r>
              <a:rPr lang="en"/>
              <a:t>LIDAR or depth sensing could also be integrated to improve obstacle detection accuracy and detection</a:t>
            </a:r>
            <a:endParaRPr/>
          </a:p>
          <a:p>
            <a:pPr indent="-311150" lvl="0" marL="457200" rtl="0" algn="l">
              <a:spcBef>
                <a:spcPts val="0"/>
              </a:spcBef>
              <a:spcAft>
                <a:spcPts val="0"/>
              </a:spcAft>
              <a:buSzPts val="1300"/>
              <a:buChar char="-"/>
            </a:pPr>
            <a:r>
              <a:rPr lang="en"/>
              <a:t>Multi-lane navigation with lane changes and overtaking behaviors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